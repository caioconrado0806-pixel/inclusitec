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lgn="ctr">
              <a:defRPr sz="4000" b="1">
                <a:solidFill>
                  <a:srgbClr val="1C2A4A"/>
                </a:solidFill>
              </a:defRPr>
            </a:pPr>
            <a:r>
              <a:t>The United States of America (USA)</a:t>
            </a:r>
          </a:p>
        </p:txBody>
      </p:sp>
      <p:sp>
        <p:nvSpPr>
          <p:cNvPr id="3" name="TextBox 2"/>
          <p:cNvSpPr txBox="1"/>
          <p:nvPr/>
        </p:nvSpPr>
        <p:spPr>
          <a:xfrm>
            <a:off x="548640" y="1188720"/>
            <a:ext cx="11064240" cy="365760"/>
          </a:xfrm>
          <a:prstGeom prst="rect">
            <a:avLst/>
          </a:prstGeom>
          <a:noFill/>
        </p:spPr>
        <p:txBody>
          <a:bodyPr wrap="none">
            <a:spAutoFit/>
          </a:bodyPr>
          <a:lstStyle/>
          <a:p>
            <a:pPr algn="ctr">
              <a:defRPr sz="1500" i="1">
                <a:solidFill>
                  <a:srgbClr val="B22234"/>
                </a:solidFill>
              </a:defRPr>
            </a:pPr>
            <a:r>
              <a:t>Country overview: name, currency and location on the map</a:t>
            </a:r>
          </a:p>
        </p:txBody>
      </p:sp>
      <p:pic>
        <p:nvPicPr>
          <p:cNvPr id="4" name="Picture 3" descr="img_usa_map.png"/>
          <p:cNvPicPr>
            <a:picLocks noChangeAspect="1"/>
          </p:cNvPicPr>
          <p:nvPr/>
        </p:nvPicPr>
        <p:blipFill>
          <a:blip r:embed="rId2"/>
          <a:stretch>
            <a:fillRect/>
          </a:stretch>
        </p:blipFill>
        <p:spPr>
          <a:xfrm>
            <a:off x="1149552" y="1691640"/>
            <a:ext cx="4193136" cy="4206240"/>
          </a:xfrm>
          <a:prstGeom prst="rect">
            <a:avLst/>
          </a:prstGeom>
        </p:spPr>
      </p:pic>
      <p:sp>
        <p:nvSpPr>
          <p:cNvPr id="5" name="TextBox 4"/>
          <p:cNvSpPr txBox="1"/>
          <p:nvPr/>
        </p:nvSpPr>
        <p:spPr>
          <a:xfrm>
            <a:off x="6355080" y="1737360"/>
            <a:ext cx="5349240" cy="384048"/>
          </a:xfrm>
          <a:prstGeom prst="rect">
            <a:avLst/>
          </a:prstGeom>
          <a:noFill/>
        </p:spPr>
        <p:txBody>
          <a:bodyPr wrap="none">
            <a:spAutoFit/>
          </a:bodyPr>
          <a:lstStyle/>
          <a:p>
            <a:pPr>
              <a:defRPr sz="1700" b="1">
                <a:solidFill>
                  <a:srgbClr val="B22234"/>
                </a:solidFill>
              </a:defRPr>
            </a:pPr>
            <a:r>
              <a:t>Key facts</a:t>
            </a:r>
          </a:p>
        </p:txBody>
      </p:sp>
      <p:sp>
        <p:nvSpPr>
          <p:cNvPr id="6" name="TextBox 5"/>
          <p:cNvSpPr txBox="1"/>
          <p:nvPr/>
        </p:nvSpPr>
        <p:spPr>
          <a:xfrm>
            <a:off x="6355080" y="2148840"/>
            <a:ext cx="5349240" cy="3749040"/>
          </a:xfrm>
          <a:prstGeom prst="rect">
            <a:avLst/>
          </a:prstGeom>
          <a:noFill/>
        </p:spPr>
        <p:txBody>
          <a:bodyPr wrap="square">
            <a:spAutoFit/>
          </a:bodyPr>
          <a:lstStyle/>
          <a:p>
            <a:pPr>
              <a:spcAft>
                <a:spcPts val="700"/>
              </a:spcAft>
            </a:pPr>
            <a:r>
              <a:rPr b="1" sz="1500">
                <a:solidFill>
                  <a:srgbClr val="1C2A4A"/>
                </a:solidFill>
              </a:rPr>
              <a:t>▪ Country name: </a:t>
            </a:r>
            <a:r>
              <a:rPr sz="1500">
                <a:solidFill>
                  <a:srgbClr val="222833"/>
                </a:solidFill>
              </a:rPr>
              <a:t>United States of America (USA / U.S.)</a:t>
            </a:r>
          </a:p>
          <a:p>
            <a:pPr>
              <a:spcAft>
                <a:spcPts val="700"/>
              </a:spcAft>
            </a:pPr>
            <a:r>
              <a:rPr b="1" sz="1500">
                <a:solidFill>
                  <a:srgbClr val="1C2A4A"/>
                </a:solidFill>
              </a:rPr>
              <a:t>▪ Capital: </a:t>
            </a:r>
            <a:r>
              <a:rPr sz="1500">
                <a:solidFill>
                  <a:srgbClr val="222833"/>
                </a:solidFill>
              </a:rPr>
              <a:t>Washington, D.C.</a:t>
            </a:r>
          </a:p>
          <a:p>
            <a:pPr>
              <a:spcAft>
                <a:spcPts val="700"/>
              </a:spcAft>
            </a:pPr>
            <a:r>
              <a:rPr b="1" sz="1500">
                <a:solidFill>
                  <a:srgbClr val="1C2A4A"/>
                </a:solidFill>
              </a:rPr>
              <a:t>▪ Currency: </a:t>
            </a:r>
            <a:r>
              <a:rPr sz="1500">
                <a:solidFill>
                  <a:srgbClr val="222833"/>
                </a:solidFill>
              </a:rPr>
              <a:t>United States Dollar (USD, symbol $)</a:t>
            </a:r>
          </a:p>
          <a:p>
            <a:pPr>
              <a:spcAft>
                <a:spcPts val="700"/>
              </a:spcAft>
            </a:pPr>
            <a:r>
              <a:rPr b="1" sz="1500">
                <a:solidFill>
                  <a:srgbClr val="1C2A4A"/>
                </a:solidFill>
              </a:rPr>
              <a:t>▪ Location: </a:t>
            </a:r>
            <a:r>
              <a:rPr sz="1500">
                <a:solidFill>
                  <a:srgbClr val="222833"/>
                </a:solidFill>
              </a:rPr>
              <a:t>North America, between Canada (north) and Mexico (south)</a:t>
            </a:r>
          </a:p>
          <a:p>
            <a:pPr>
              <a:spcAft>
                <a:spcPts val="700"/>
              </a:spcAft>
            </a:pPr>
            <a:r>
              <a:rPr b="1" sz="1500">
                <a:solidFill>
                  <a:srgbClr val="1C2A4A"/>
                </a:solidFill>
              </a:rPr>
              <a:t>▪ Language: </a:t>
            </a:r>
            <a:r>
              <a:rPr sz="1500">
                <a:solidFill>
                  <a:srgbClr val="222833"/>
                </a:solidFill>
              </a:rPr>
              <a:t>English (de facto national language)</a:t>
            </a:r>
          </a:p>
          <a:p>
            <a:pPr>
              <a:spcAft>
                <a:spcPts val="700"/>
              </a:spcAft>
            </a:pPr>
            <a:r>
              <a:rPr b="1" sz="1500">
                <a:solidFill>
                  <a:srgbClr val="1C2A4A"/>
                </a:solidFill>
              </a:rPr>
              <a:t>▪ States: </a:t>
            </a:r>
            <a:r>
              <a:rPr sz="1500">
                <a:solidFill>
                  <a:srgbClr val="222833"/>
                </a:solidFill>
              </a:rPr>
              <a:t>50 states and several territories</a:t>
            </a:r>
          </a:p>
        </p:txBody>
      </p:sp>
      <p:sp>
        <p:nvSpPr>
          <p:cNvPr id="7" name="TextBox 6"/>
          <p:cNvSpPr txBox="1"/>
          <p:nvPr/>
        </p:nvSpPr>
        <p:spPr>
          <a:xfrm>
            <a:off x="502920" y="5870448"/>
            <a:ext cx="11201400" cy="594360"/>
          </a:xfrm>
          <a:prstGeom prst="rect">
            <a:avLst/>
          </a:prstGeom>
          <a:noFill/>
        </p:spPr>
        <p:txBody>
          <a:bodyPr wrap="square">
            <a:spAutoFit/>
          </a:bodyPr>
          <a:lstStyle/>
          <a:p>
            <a:pPr>
              <a:lnSpc>
                <a:spcPct val="115000"/>
              </a:lnSpc>
              <a:defRPr sz="1200">
                <a:solidFill>
                  <a:srgbClr val="2A303C"/>
                </a:solidFill>
              </a:defRPr>
            </a:pPr>
            <a:r>
              <a:t>The United States is a federal republic located in North America. Its official currency is the dollar (USD), one of the most traded currencies in the world, and the country stretches from the Atlantic Ocean to the Pacific Ocean.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C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l">
              <a:defRPr sz="2800" b="1">
                <a:solidFill>
                  <a:srgbClr val="FFFFFF"/>
                </a:solidFill>
              </a:defRPr>
            </a:pPr>
            <a:r>
              <a:t>Culture and Typical Clothing</a:t>
            </a:r>
          </a:p>
          <a:p>
            <a:pPr>
              <a:defRPr sz="1300" i="1">
                <a:solidFill>
                  <a:srgbClr val="C9D3E6"/>
                </a:solidFill>
              </a:defRPr>
            </a:pPr>
            <a:r>
              <a:t>A melting pot of traditions, fashion and everyday style</a:t>
            </a:r>
          </a:p>
        </p:txBody>
      </p:sp>
      <p:sp>
        <p:nvSpPr>
          <p:cNvPr id="3" name="TextBox 2"/>
          <p:cNvSpPr txBox="1"/>
          <p:nvPr/>
        </p:nvSpPr>
        <p:spPr>
          <a:xfrm>
            <a:off x="502920" y="1097280"/>
            <a:ext cx="5577840" cy="384048"/>
          </a:xfrm>
          <a:prstGeom prst="rect">
            <a:avLst/>
          </a:prstGeom>
          <a:noFill/>
        </p:spPr>
        <p:txBody>
          <a:bodyPr wrap="none">
            <a:spAutoFit/>
          </a:bodyPr>
          <a:lstStyle/>
          <a:p>
            <a:pPr>
              <a:defRPr sz="1700" b="1">
                <a:solidFill>
                  <a:srgbClr val="B22234"/>
                </a:solidFill>
              </a:defRPr>
            </a:pPr>
            <a:r>
              <a:t>Culture</a:t>
            </a:r>
          </a:p>
        </p:txBody>
      </p:sp>
      <p:sp>
        <p:nvSpPr>
          <p:cNvPr id="4" name="TextBox 3"/>
          <p:cNvSpPr txBox="1"/>
          <p:nvPr/>
        </p:nvSpPr>
        <p:spPr>
          <a:xfrm>
            <a:off x="502920" y="1508760"/>
            <a:ext cx="5577840" cy="4434840"/>
          </a:xfrm>
          <a:prstGeom prst="rect">
            <a:avLst/>
          </a:prstGeom>
          <a:noFill/>
        </p:spPr>
        <p:txBody>
          <a:bodyPr wrap="square">
            <a:spAutoFit/>
          </a:bodyPr>
          <a:lstStyle/>
          <a:p>
            <a:pPr>
              <a:spcAft>
                <a:spcPts val="700"/>
              </a:spcAft>
            </a:pPr>
            <a:r>
              <a:rPr b="1" sz="1500">
                <a:solidFill>
                  <a:srgbClr val="1C2A4A"/>
                </a:solidFill>
              </a:rPr>
              <a:t>▪ Melting pot: </a:t>
            </a:r>
            <a:r>
              <a:rPr sz="1500">
                <a:solidFill>
                  <a:srgbClr val="222833"/>
                </a:solidFill>
              </a:rPr>
              <a:t>cultures from immigrants all over the world</a:t>
            </a:r>
          </a:p>
          <a:p>
            <a:pPr>
              <a:spcAft>
                <a:spcPts val="700"/>
              </a:spcAft>
            </a:pPr>
            <a:r>
              <a:rPr b="1" sz="1500">
                <a:solidFill>
                  <a:srgbClr val="1C2A4A"/>
                </a:solidFill>
              </a:rPr>
              <a:t>▪ Global influence: </a:t>
            </a:r>
            <a:r>
              <a:rPr sz="1500">
                <a:solidFill>
                  <a:srgbClr val="222833"/>
                </a:solidFill>
              </a:rPr>
              <a:t>Hollywood movies, TV series and music</a:t>
            </a:r>
          </a:p>
          <a:p>
            <a:pPr>
              <a:spcAft>
                <a:spcPts val="700"/>
              </a:spcAft>
            </a:pPr>
            <a:r>
              <a:rPr b="1" sz="1500">
                <a:solidFill>
                  <a:srgbClr val="1C2A4A"/>
                </a:solidFill>
              </a:rPr>
              <a:t>▪ Sports culture: </a:t>
            </a:r>
            <a:r>
              <a:rPr sz="1500">
                <a:solidFill>
                  <a:srgbClr val="222833"/>
                </a:solidFill>
              </a:rPr>
              <a:t>baseball, basketball and American football</a:t>
            </a:r>
          </a:p>
          <a:p>
            <a:pPr>
              <a:spcAft>
                <a:spcPts val="700"/>
              </a:spcAft>
            </a:pPr>
            <a:r>
              <a:rPr b="1" sz="1500">
                <a:solidFill>
                  <a:srgbClr val="1C2A4A"/>
                </a:solidFill>
              </a:rPr>
              <a:t>▪ Values: </a:t>
            </a:r>
            <a:r>
              <a:rPr sz="1500">
                <a:solidFill>
                  <a:srgbClr val="222833"/>
                </a:solidFill>
              </a:rPr>
              <a:t>freedom, individualism and entrepreneurship</a:t>
            </a:r>
          </a:p>
          <a:p>
            <a:pPr>
              <a:spcAft>
                <a:spcPts val="700"/>
              </a:spcAft>
            </a:pPr>
            <a:r>
              <a:rPr b="1" sz="1500">
                <a:solidFill>
                  <a:srgbClr val="1C2A4A"/>
                </a:solidFill>
              </a:rPr>
              <a:t>▪ Landmarks: </a:t>
            </a:r>
            <a:r>
              <a:rPr sz="1500">
                <a:solidFill>
                  <a:srgbClr val="222833"/>
                </a:solidFill>
              </a:rPr>
              <a:t>Statue of Liberty, Golden Gate Bridge, Grand Canyon</a:t>
            </a:r>
          </a:p>
        </p:txBody>
      </p:sp>
      <p:sp>
        <p:nvSpPr>
          <p:cNvPr id="5" name="TextBox 4"/>
          <p:cNvSpPr txBox="1"/>
          <p:nvPr/>
        </p:nvSpPr>
        <p:spPr>
          <a:xfrm>
            <a:off x="6355080" y="1097280"/>
            <a:ext cx="5349240" cy="384048"/>
          </a:xfrm>
          <a:prstGeom prst="rect">
            <a:avLst/>
          </a:prstGeom>
          <a:noFill/>
        </p:spPr>
        <p:txBody>
          <a:bodyPr wrap="none">
            <a:spAutoFit/>
          </a:bodyPr>
          <a:lstStyle/>
          <a:p>
            <a:pPr>
              <a:defRPr sz="1700" b="1">
                <a:solidFill>
                  <a:srgbClr val="B22234"/>
                </a:solidFill>
              </a:defRPr>
            </a:pPr>
            <a:r>
              <a:t>Typical clothing</a:t>
            </a:r>
          </a:p>
        </p:txBody>
      </p:sp>
      <p:sp>
        <p:nvSpPr>
          <p:cNvPr id="6" name="TextBox 5"/>
          <p:cNvSpPr txBox="1"/>
          <p:nvPr/>
        </p:nvSpPr>
        <p:spPr>
          <a:xfrm>
            <a:off x="6355080" y="1508760"/>
            <a:ext cx="5349240" cy="4434840"/>
          </a:xfrm>
          <a:prstGeom prst="rect">
            <a:avLst/>
          </a:prstGeom>
          <a:noFill/>
        </p:spPr>
        <p:txBody>
          <a:bodyPr wrap="square">
            <a:spAutoFit/>
          </a:bodyPr>
          <a:lstStyle/>
          <a:p>
            <a:pPr>
              <a:spcAft>
                <a:spcPts val="700"/>
              </a:spcAft>
            </a:pPr>
            <a:r>
              <a:rPr b="1" sz="1500">
                <a:solidFill>
                  <a:srgbClr val="1C2A4A"/>
                </a:solidFill>
              </a:rPr>
              <a:t>▪ Everyday style: </a:t>
            </a:r>
            <a:r>
              <a:rPr sz="1500">
                <a:solidFill>
                  <a:srgbClr val="222833"/>
                </a:solidFill>
              </a:rPr>
              <a:t>jeans, T-shirts, sneakers and baseball caps</a:t>
            </a:r>
          </a:p>
          <a:p>
            <a:pPr>
              <a:spcAft>
                <a:spcPts val="700"/>
              </a:spcAft>
            </a:pPr>
            <a:r>
              <a:rPr b="1" sz="1500">
                <a:solidFill>
                  <a:srgbClr val="1C2A4A"/>
                </a:solidFill>
              </a:rPr>
              <a:t>▪ Cowboy culture: </a:t>
            </a:r>
            <a:r>
              <a:rPr sz="1500">
                <a:solidFill>
                  <a:srgbClr val="222833"/>
                </a:solidFill>
              </a:rPr>
              <a:t>wide-brim hats, boots and denim in the West</a:t>
            </a:r>
          </a:p>
          <a:p>
            <a:pPr>
              <a:spcAft>
                <a:spcPts val="700"/>
              </a:spcAft>
            </a:pPr>
            <a:r>
              <a:rPr b="1" sz="1500">
                <a:solidFill>
                  <a:srgbClr val="1C2A4A"/>
                </a:solidFill>
              </a:rPr>
              <a:t>▪ Native American: </a:t>
            </a:r>
            <a:r>
              <a:rPr sz="1500">
                <a:solidFill>
                  <a:srgbClr val="222833"/>
                </a:solidFill>
              </a:rPr>
              <a:t>colorful regalia worn at ceremonies and powwows</a:t>
            </a:r>
          </a:p>
          <a:p>
            <a:pPr>
              <a:spcAft>
                <a:spcPts val="700"/>
              </a:spcAft>
            </a:pPr>
            <a:r>
              <a:rPr b="1" sz="1500">
                <a:solidFill>
                  <a:srgbClr val="1C2A4A"/>
                </a:solidFill>
              </a:rPr>
              <a:t>▪ Workwear: </a:t>
            </a:r>
            <a:r>
              <a:rPr sz="1500">
                <a:solidFill>
                  <a:srgbClr val="222833"/>
                </a:solidFill>
              </a:rPr>
              <a:t>denim jackets, flannel shirts and work boots</a:t>
            </a:r>
          </a:p>
          <a:p>
            <a:pPr>
              <a:spcAft>
                <a:spcPts val="700"/>
              </a:spcAft>
            </a:pPr>
            <a:r>
              <a:rPr b="1" sz="1500">
                <a:solidFill>
                  <a:srgbClr val="1C2A4A"/>
                </a:solidFill>
              </a:rPr>
              <a:t>▪ Note: </a:t>
            </a:r>
            <a:r>
              <a:rPr sz="1500">
                <a:solidFill>
                  <a:srgbClr val="222833"/>
                </a:solidFill>
              </a:rPr>
              <a:t>there is no single national costume — style is regional and casual</a:t>
            </a:r>
          </a:p>
        </p:txBody>
      </p:sp>
      <p:sp>
        <p:nvSpPr>
          <p:cNvPr id="7" name="TextBox 6"/>
          <p:cNvSpPr txBox="1"/>
          <p:nvPr/>
        </p:nvSpPr>
        <p:spPr>
          <a:xfrm>
            <a:off x="502920" y="5760720"/>
            <a:ext cx="11201400" cy="685800"/>
          </a:xfrm>
          <a:prstGeom prst="rect">
            <a:avLst/>
          </a:prstGeom>
          <a:noFill/>
        </p:spPr>
        <p:txBody>
          <a:bodyPr wrap="square">
            <a:spAutoFit/>
          </a:bodyPr>
          <a:lstStyle/>
          <a:p>
            <a:pPr>
              <a:lnSpc>
                <a:spcPct val="115000"/>
              </a:lnSpc>
              <a:defRPr sz="1200">
                <a:solidFill>
                  <a:srgbClr val="2A303C"/>
                </a:solidFill>
              </a:defRPr>
            </a:pPr>
            <a:r>
              <a:t>American culture is one of the most influential in the world, blending Indigenous, European, African, Latin American and Asian traditions. Because of this diversity, typical clothing is mostly casual and regional: jeans and sneakers are iconic nationwide, while cowboy hats and boots represent the ranching heritage of the West.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C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l">
              <a:defRPr sz="2800" b="1">
                <a:solidFill>
                  <a:srgbClr val="FFFFFF"/>
                </a:solidFill>
              </a:defRPr>
            </a:pPr>
            <a:r>
              <a:t>Gastronomy — The Hot Dog</a:t>
            </a:r>
          </a:p>
          <a:p>
            <a:pPr>
              <a:defRPr sz="1300" i="1">
                <a:solidFill>
                  <a:srgbClr val="C9D3E6"/>
                </a:solidFill>
              </a:defRPr>
            </a:pPr>
            <a:r>
              <a:t>Dish: Hot Dog • Local: New York City, NY</a:t>
            </a:r>
          </a:p>
        </p:txBody>
      </p:sp>
      <p:sp>
        <p:nvSpPr>
          <p:cNvPr id="3" name="TextBox 2"/>
          <p:cNvSpPr txBox="1"/>
          <p:nvPr/>
        </p:nvSpPr>
        <p:spPr>
          <a:xfrm>
            <a:off x="502920" y="1097280"/>
            <a:ext cx="5852160" cy="384048"/>
          </a:xfrm>
          <a:prstGeom prst="rect">
            <a:avLst/>
          </a:prstGeom>
          <a:noFill/>
        </p:spPr>
        <p:txBody>
          <a:bodyPr wrap="none">
            <a:spAutoFit/>
          </a:bodyPr>
          <a:lstStyle/>
          <a:p>
            <a:pPr>
              <a:defRPr sz="1700" b="1">
                <a:solidFill>
                  <a:srgbClr val="B22234"/>
                </a:solidFill>
              </a:defRPr>
            </a:pPr>
            <a:r>
              <a:t>The dish</a:t>
            </a:r>
          </a:p>
        </p:txBody>
      </p:sp>
      <p:sp>
        <p:nvSpPr>
          <p:cNvPr id="4" name="TextBox 3"/>
          <p:cNvSpPr txBox="1"/>
          <p:nvPr/>
        </p:nvSpPr>
        <p:spPr>
          <a:xfrm>
            <a:off x="502920" y="1508760"/>
            <a:ext cx="5852160" cy="2423160"/>
          </a:xfrm>
          <a:prstGeom prst="rect">
            <a:avLst/>
          </a:prstGeom>
          <a:noFill/>
        </p:spPr>
        <p:txBody>
          <a:bodyPr wrap="square">
            <a:spAutoFit/>
          </a:bodyPr>
          <a:lstStyle/>
          <a:p>
            <a:pPr>
              <a:spcAft>
                <a:spcPts val="700"/>
              </a:spcAft>
            </a:pPr>
            <a:r>
              <a:rPr b="1" sz="1500">
                <a:solidFill>
                  <a:srgbClr val="1C2A4A"/>
                </a:solidFill>
              </a:rPr>
              <a:t>▪ Name: </a:t>
            </a:r>
            <a:r>
              <a:rPr sz="1500">
                <a:solidFill>
                  <a:srgbClr val="222833"/>
                </a:solidFill>
              </a:rPr>
              <a:t>Hot Dog (frankfurter / wiener served in a bun)</a:t>
            </a:r>
          </a:p>
          <a:p>
            <a:pPr>
              <a:spcAft>
                <a:spcPts val="700"/>
              </a:spcAft>
            </a:pPr>
            <a:r>
              <a:rPr b="1" sz="1500">
                <a:solidFill>
                  <a:srgbClr val="1C2A4A"/>
                </a:solidFill>
              </a:rPr>
              <a:t>▪ Local: </a:t>
            </a:r>
            <a:r>
              <a:rPr sz="1500">
                <a:solidFill>
                  <a:srgbClr val="222833"/>
                </a:solidFill>
              </a:rPr>
              <a:t>New York — street carts and Nathan's Famous, Coney Island</a:t>
            </a:r>
          </a:p>
          <a:p>
            <a:pPr>
              <a:spcAft>
                <a:spcPts val="700"/>
              </a:spcAft>
            </a:pPr>
            <a:r>
              <a:rPr b="1" sz="1500">
                <a:solidFill>
                  <a:srgbClr val="1C2A4A"/>
                </a:solidFill>
              </a:rPr>
              <a:t>▪ Since: </a:t>
            </a:r>
            <a:r>
              <a:rPr sz="1500">
                <a:solidFill>
                  <a:srgbClr val="222833"/>
                </a:solidFill>
              </a:rPr>
              <a:t>popular in NYC since the late 19th century</a:t>
            </a:r>
          </a:p>
        </p:txBody>
      </p:sp>
      <p:sp>
        <p:nvSpPr>
          <p:cNvPr id="5" name="TextBox 4"/>
          <p:cNvSpPr txBox="1"/>
          <p:nvPr/>
        </p:nvSpPr>
        <p:spPr>
          <a:xfrm>
            <a:off x="502920" y="3520440"/>
            <a:ext cx="5852160" cy="384048"/>
          </a:xfrm>
          <a:prstGeom prst="rect">
            <a:avLst/>
          </a:prstGeom>
          <a:noFill/>
        </p:spPr>
        <p:txBody>
          <a:bodyPr wrap="none">
            <a:spAutoFit/>
          </a:bodyPr>
          <a:lstStyle/>
          <a:p>
            <a:pPr>
              <a:defRPr sz="1700" b="1">
                <a:solidFill>
                  <a:srgbClr val="B22234"/>
                </a:solidFill>
              </a:defRPr>
            </a:pPr>
            <a:r>
              <a:t>Utensils used to prepare and serve</a:t>
            </a:r>
          </a:p>
        </p:txBody>
      </p:sp>
      <p:sp>
        <p:nvSpPr>
          <p:cNvPr id="6" name="TextBox 5"/>
          <p:cNvSpPr txBox="1"/>
          <p:nvPr/>
        </p:nvSpPr>
        <p:spPr>
          <a:xfrm>
            <a:off x="502920" y="3931920"/>
            <a:ext cx="5852160" cy="1783080"/>
          </a:xfrm>
          <a:prstGeom prst="rect">
            <a:avLst/>
          </a:prstGeom>
          <a:noFill/>
        </p:spPr>
        <p:txBody>
          <a:bodyPr wrap="square">
            <a:spAutoFit/>
          </a:bodyPr>
          <a:lstStyle/>
          <a:p>
            <a:pPr>
              <a:spcAft>
                <a:spcPts val="700"/>
              </a:spcAft>
            </a:pPr>
            <a:r>
              <a:rPr sz="1500">
                <a:solidFill>
                  <a:srgbClr val="222833"/>
                </a:solidFill>
              </a:rPr>
              <a:t>▪ Grill or hot dog roller grill</a:t>
            </a:r>
          </a:p>
          <a:p>
            <a:pPr>
              <a:spcAft>
                <a:spcPts val="700"/>
              </a:spcAft>
            </a:pPr>
            <a:r>
              <a:rPr sz="1500">
                <a:solidFill>
                  <a:srgbClr val="222833"/>
                </a:solidFill>
              </a:rPr>
              <a:t>▪ Tongs and a long fork (to turn the sausages)</a:t>
            </a:r>
          </a:p>
          <a:p>
            <a:pPr>
              <a:spcAft>
                <a:spcPts val="700"/>
              </a:spcAft>
            </a:pPr>
            <a:r>
              <a:rPr sz="1500">
                <a:solidFill>
                  <a:srgbClr val="222833"/>
                </a:solidFill>
              </a:rPr>
              <a:t>▪ Knife and cutting board (to slice toppings)</a:t>
            </a:r>
          </a:p>
          <a:p>
            <a:pPr>
              <a:spcAft>
                <a:spcPts val="700"/>
              </a:spcAft>
            </a:pPr>
            <a:r>
              <a:rPr sz="1500">
                <a:solidFill>
                  <a:srgbClr val="222833"/>
                </a:solidFill>
              </a:rPr>
              <a:t>▪ Serving tray, buns, napkins and condiment squeeze bottles</a:t>
            </a:r>
          </a:p>
        </p:txBody>
      </p:sp>
      <p:sp>
        <p:nvSpPr>
          <p:cNvPr id="7" name="TextBox 6"/>
          <p:cNvSpPr txBox="1"/>
          <p:nvPr/>
        </p:nvSpPr>
        <p:spPr>
          <a:xfrm>
            <a:off x="6629400" y="1097280"/>
            <a:ext cx="5074920" cy="384048"/>
          </a:xfrm>
          <a:prstGeom prst="rect">
            <a:avLst/>
          </a:prstGeom>
          <a:noFill/>
        </p:spPr>
        <p:txBody>
          <a:bodyPr wrap="none">
            <a:spAutoFit/>
          </a:bodyPr>
          <a:lstStyle/>
          <a:p>
            <a:pPr>
              <a:defRPr sz="1700" b="1">
                <a:solidFill>
                  <a:srgbClr val="B22234"/>
                </a:solidFill>
              </a:defRPr>
            </a:pPr>
            <a:r>
              <a:t>Ingredients</a:t>
            </a:r>
          </a:p>
        </p:txBody>
      </p:sp>
      <p:sp>
        <p:nvSpPr>
          <p:cNvPr id="8" name="TextBox 7"/>
          <p:cNvSpPr txBox="1"/>
          <p:nvPr/>
        </p:nvSpPr>
        <p:spPr>
          <a:xfrm>
            <a:off x="6629400" y="1508760"/>
            <a:ext cx="5074920" cy="2423160"/>
          </a:xfrm>
          <a:prstGeom prst="rect">
            <a:avLst/>
          </a:prstGeom>
          <a:noFill/>
        </p:spPr>
        <p:txBody>
          <a:bodyPr wrap="square">
            <a:spAutoFit/>
          </a:bodyPr>
          <a:lstStyle/>
          <a:p>
            <a:pPr>
              <a:spcAft>
                <a:spcPts val="700"/>
              </a:spcAft>
            </a:pPr>
            <a:r>
              <a:rPr sz="1500">
                <a:solidFill>
                  <a:srgbClr val="222833"/>
                </a:solidFill>
              </a:rPr>
              <a:t>▪ Beef and/or pork sausage (frankfurter)</a:t>
            </a:r>
          </a:p>
          <a:p>
            <a:pPr>
              <a:spcAft>
                <a:spcPts val="700"/>
              </a:spcAft>
            </a:pPr>
            <a:r>
              <a:rPr sz="1500">
                <a:solidFill>
                  <a:srgbClr val="222833"/>
                </a:solidFill>
              </a:rPr>
              <a:t>▪ Soft sliced bun (bread roll)</a:t>
            </a:r>
          </a:p>
          <a:p>
            <a:pPr>
              <a:spcAft>
                <a:spcPts val="700"/>
              </a:spcAft>
            </a:pPr>
            <a:r>
              <a:rPr sz="1500">
                <a:solidFill>
                  <a:srgbClr val="222833"/>
                </a:solidFill>
              </a:rPr>
              <a:t>▪ Yellow mustard and ketchup</a:t>
            </a:r>
          </a:p>
          <a:p>
            <a:pPr>
              <a:spcAft>
                <a:spcPts val="700"/>
              </a:spcAft>
            </a:pPr>
            <a:r>
              <a:rPr sz="1500">
                <a:solidFill>
                  <a:srgbClr val="222833"/>
                </a:solidFill>
              </a:rPr>
              <a:t>▪ Chopped onions and relish</a:t>
            </a:r>
          </a:p>
          <a:p>
            <a:pPr>
              <a:spcAft>
                <a:spcPts val="700"/>
              </a:spcAft>
            </a:pPr>
            <a:r>
              <a:rPr sz="1500">
                <a:solidFill>
                  <a:srgbClr val="222833"/>
                </a:solidFill>
              </a:rPr>
              <a:t>▪ Sauerkraut and pickles (optional)</a:t>
            </a:r>
          </a:p>
        </p:txBody>
      </p:sp>
      <p:pic>
        <p:nvPicPr>
          <p:cNvPr id="9" name="Picture 8" descr="img_hotdog.jpg"/>
          <p:cNvPicPr>
            <a:picLocks noChangeAspect="1"/>
          </p:cNvPicPr>
          <p:nvPr/>
        </p:nvPicPr>
        <p:blipFill>
          <a:blip r:embed="rId2"/>
          <a:stretch>
            <a:fillRect/>
          </a:stretch>
        </p:blipFill>
        <p:spPr>
          <a:xfrm>
            <a:off x="7378891" y="3977639"/>
            <a:ext cx="3575937" cy="2377440"/>
          </a:xfrm>
          <a:prstGeom prst="rect">
            <a:avLst/>
          </a:prstGeom>
        </p:spPr>
      </p:pic>
      <p:sp>
        <p:nvSpPr>
          <p:cNvPr id="10" name="TextBox 9"/>
          <p:cNvSpPr txBox="1"/>
          <p:nvPr/>
        </p:nvSpPr>
        <p:spPr>
          <a:xfrm>
            <a:off x="502920" y="5870448"/>
            <a:ext cx="5852160" cy="594360"/>
          </a:xfrm>
          <a:prstGeom prst="rect">
            <a:avLst/>
          </a:prstGeom>
          <a:noFill/>
        </p:spPr>
        <p:txBody>
          <a:bodyPr wrap="square">
            <a:spAutoFit/>
          </a:bodyPr>
          <a:lstStyle/>
          <a:p>
            <a:pPr>
              <a:lnSpc>
                <a:spcPct val="115000"/>
              </a:lnSpc>
              <a:defRPr sz="1200">
                <a:solidFill>
                  <a:srgbClr val="2A303C"/>
                </a:solidFill>
              </a:defRPr>
            </a:pPr>
            <a:r>
              <a:t>The hot dog is a fast-food icon of New York City, sold from carts on almost every corner. It is quick, cheap and delicious — a true symbol of American street food.</a:t>
            </a:r>
          </a:p>
        </p:txBody>
      </p:sp>
      <p:sp>
        <p:nvSpPr>
          <p:cNvPr id="11" name="TextBox 10"/>
          <p:cNvSpPr txBox="1"/>
          <p:nvPr/>
        </p:nvSpPr>
        <p:spPr>
          <a:xfrm>
            <a:off x="457200" y="6473952"/>
            <a:ext cx="11247120" cy="292608"/>
          </a:xfrm>
          <a:prstGeom prst="rect">
            <a:avLst/>
          </a:prstGeom>
          <a:noFill/>
        </p:spPr>
        <p:txBody>
          <a:bodyPr wrap="none">
            <a:spAutoFit/>
          </a:bodyPr>
          <a:lstStyle/>
          <a:p>
            <a:pPr algn="ctr">
              <a:defRPr sz="900" i="1">
                <a:solidFill>
                  <a:srgbClr val="555D6D"/>
                </a:solidFill>
              </a:defRPr>
            </a:pPr>
            <a:r>
              <a:t>Photo: Hot dog with mustard — Wikimedia Commons (CC BY-SA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C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l">
              <a:defRPr sz="2800" b="1">
                <a:solidFill>
                  <a:srgbClr val="FFFFFF"/>
                </a:solidFill>
              </a:defRPr>
            </a:pPr>
            <a:r>
              <a:t>Dance and Music</a:t>
            </a:r>
          </a:p>
          <a:p>
            <a:pPr>
              <a:defRPr sz="1300" i="1">
                <a:solidFill>
                  <a:srgbClr val="C9D3E6"/>
                </a:solidFill>
              </a:defRPr>
            </a:pPr>
            <a:r>
              <a:t>From jazz and blues to hip-hop — rhythm was born in the USA</a:t>
            </a:r>
          </a:p>
        </p:txBody>
      </p:sp>
      <p:sp>
        <p:nvSpPr>
          <p:cNvPr id="3" name="TextBox 2"/>
          <p:cNvSpPr txBox="1"/>
          <p:nvPr/>
        </p:nvSpPr>
        <p:spPr>
          <a:xfrm>
            <a:off x="502920" y="1097280"/>
            <a:ext cx="5577840" cy="384048"/>
          </a:xfrm>
          <a:prstGeom prst="rect">
            <a:avLst/>
          </a:prstGeom>
          <a:noFill/>
        </p:spPr>
        <p:txBody>
          <a:bodyPr wrap="none">
            <a:spAutoFit/>
          </a:bodyPr>
          <a:lstStyle/>
          <a:p>
            <a:pPr>
              <a:defRPr sz="1700" b="1">
                <a:solidFill>
                  <a:srgbClr val="B22234"/>
                </a:solidFill>
              </a:defRPr>
            </a:pPr>
            <a:r>
              <a:t>Music</a:t>
            </a:r>
          </a:p>
        </p:txBody>
      </p:sp>
      <p:sp>
        <p:nvSpPr>
          <p:cNvPr id="4" name="TextBox 3"/>
          <p:cNvSpPr txBox="1"/>
          <p:nvPr/>
        </p:nvSpPr>
        <p:spPr>
          <a:xfrm>
            <a:off x="502920" y="1508760"/>
            <a:ext cx="5577840" cy="4160520"/>
          </a:xfrm>
          <a:prstGeom prst="rect">
            <a:avLst/>
          </a:prstGeom>
          <a:noFill/>
        </p:spPr>
        <p:txBody>
          <a:bodyPr wrap="square">
            <a:spAutoFit/>
          </a:bodyPr>
          <a:lstStyle/>
          <a:p>
            <a:pPr>
              <a:spcAft>
                <a:spcPts val="700"/>
              </a:spcAft>
            </a:pPr>
            <a:r>
              <a:rPr b="1" sz="1500">
                <a:solidFill>
                  <a:srgbClr val="1C2A4A"/>
                </a:solidFill>
              </a:rPr>
              <a:t>▪ Jazz and blues: </a:t>
            </a:r>
            <a:r>
              <a:rPr sz="1500">
                <a:solidFill>
                  <a:srgbClr val="222833"/>
                </a:solidFill>
              </a:rPr>
              <a:t>born in New Orleans in the early 1900s</a:t>
            </a:r>
          </a:p>
          <a:p>
            <a:pPr>
              <a:spcAft>
                <a:spcPts val="700"/>
              </a:spcAft>
            </a:pPr>
            <a:r>
              <a:rPr b="1" sz="1500">
                <a:solidFill>
                  <a:srgbClr val="1C2A4A"/>
                </a:solidFill>
              </a:rPr>
              <a:t>▪ Rock 'n' roll: </a:t>
            </a:r>
            <a:r>
              <a:rPr sz="1500">
                <a:solidFill>
                  <a:srgbClr val="222833"/>
                </a:solidFill>
              </a:rPr>
              <a:t>1950s, with Elvis Presley and Chuck Berry</a:t>
            </a:r>
          </a:p>
          <a:p>
            <a:pPr>
              <a:spcAft>
                <a:spcPts val="700"/>
              </a:spcAft>
            </a:pPr>
            <a:r>
              <a:rPr b="1" sz="1500">
                <a:solidFill>
                  <a:srgbClr val="1C2A4A"/>
                </a:solidFill>
              </a:rPr>
              <a:t>▪ Hip-hop: </a:t>
            </a:r>
            <a:r>
              <a:rPr sz="1500">
                <a:solidFill>
                  <a:srgbClr val="222833"/>
                </a:solidFill>
              </a:rPr>
              <a:t>born in the Bronx, New York City, in the 1970s</a:t>
            </a:r>
          </a:p>
          <a:p>
            <a:pPr>
              <a:spcAft>
                <a:spcPts val="700"/>
              </a:spcAft>
            </a:pPr>
            <a:r>
              <a:rPr b="1" sz="1500">
                <a:solidFill>
                  <a:srgbClr val="1C2A4A"/>
                </a:solidFill>
              </a:rPr>
              <a:t>▪ Country: </a:t>
            </a:r>
            <a:r>
              <a:rPr sz="1500">
                <a:solidFill>
                  <a:srgbClr val="222833"/>
                </a:solidFill>
              </a:rPr>
              <a:t>from the rural South and Nashville</a:t>
            </a:r>
          </a:p>
          <a:p>
            <a:pPr>
              <a:spcAft>
                <a:spcPts val="700"/>
              </a:spcAft>
            </a:pPr>
            <a:r>
              <a:rPr b="1" sz="1500">
                <a:solidFill>
                  <a:srgbClr val="1C2A4A"/>
                </a:solidFill>
              </a:rPr>
              <a:t>▪ Pop: </a:t>
            </a:r>
            <a:r>
              <a:rPr sz="1500">
                <a:solidFill>
                  <a:srgbClr val="222833"/>
                </a:solidFill>
              </a:rPr>
              <a:t>global hits by Michael Jackson, Madonna and Beyoncé</a:t>
            </a:r>
          </a:p>
        </p:txBody>
      </p:sp>
      <p:sp>
        <p:nvSpPr>
          <p:cNvPr id="5" name="TextBox 4"/>
          <p:cNvSpPr txBox="1"/>
          <p:nvPr/>
        </p:nvSpPr>
        <p:spPr>
          <a:xfrm>
            <a:off x="6355080" y="1097280"/>
            <a:ext cx="5349240" cy="384048"/>
          </a:xfrm>
          <a:prstGeom prst="rect">
            <a:avLst/>
          </a:prstGeom>
          <a:noFill/>
        </p:spPr>
        <p:txBody>
          <a:bodyPr wrap="none">
            <a:spAutoFit/>
          </a:bodyPr>
          <a:lstStyle/>
          <a:p>
            <a:pPr>
              <a:defRPr sz="1700" b="1">
                <a:solidFill>
                  <a:srgbClr val="B22234"/>
                </a:solidFill>
              </a:defRPr>
            </a:pPr>
            <a:r>
              <a:t>Dance</a:t>
            </a:r>
          </a:p>
        </p:txBody>
      </p:sp>
      <p:sp>
        <p:nvSpPr>
          <p:cNvPr id="6" name="TextBox 5"/>
          <p:cNvSpPr txBox="1"/>
          <p:nvPr/>
        </p:nvSpPr>
        <p:spPr>
          <a:xfrm>
            <a:off x="6355080" y="1508760"/>
            <a:ext cx="5349240" cy="4160520"/>
          </a:xfrm>
          <a:prstGeom prst="rect">
            <a:avLst/>
          </a:prstGeom>
          <a:noFill/>
        </p:spPr>
        <p:txBody>
          <a:bodyPr wrap="square">
            <a:spAutoFit/>
          </a:bodyPr>
          <a:lstStyle/>
          <a:p>
            <a:pPr>
              <a:spcAft>
                <a:spcPts val="700"/>
              </a:spcAft>
            </a:pPr>
            <a:r>
              <a:rPr b="1" sz="1500">
                <a:solidFill>
                  <a:srgbClr val="1C2A4A"/>
                </a:solidFill>
              </a:rPr>
              <a:t>▪ Swing / Lindy Hop: </a:t>
            </a:r>
            <a:r>
              <a:rPr sz="1500">
                <a:solidFill>
                  <a:srgbClr val="222833"/>
                </a:solidFill>
              </a:rPr>
              <a:t>energetic partner dance of the jazz era</a:t>
            </a:r>
          </a:p>
          <a:p>
            <a:pPr>
              <a:spcAft>
                <a:spcPts val="700"/>
              </a:spcAft>
            </a:pPr>
            <a:r>
              <a:rPr b="1" sz="1500">
                <a:solidFill>
                  <a:srgbClr val="1C2A4A"/>
                </a:solidFill>
              </a:rPr>
              <a:t>▪ Hip-hop dance: </a:t>
            </a:r>
            <a:r>
              <a:rPr sz="1500">
                <a:solidFill>
                  <a:srgbClr val="222833"/>
                </a:solidFill>
              </a:rPr>
              <a:t>breakdance, popping and locking</a:t>
            </a:r>
          </a:p>
          <a:p>
            <a:pPr>
              <a:spcAft>
                <a:spcPts val="700"/>
              </a:spcAft>
            </a:pPr>
            <a:r>
              <a:rPr b="1" sz="1500">
                <a:solidFill>
                  <a:srgbClr val="1C2A4A"/>
                </a:solidFill>
              </a:rPr>
              <a:t>▪ Broadway: </a:t>
            </a:r>
            <a:r>
              <a:rPr sz="1500">
                <a:solidFill>
                  <a:srgbClr val="222833"/>
                </a:solidFill>
              </a:rPr>
              <a:t>choreographed musical theatre in New York</a:t>
            </a:r>
          </a:p>
          <a:p>
            <a:pPr>
              <a:spcAft>
                <a:spcPts val="700"/>
              </a:spcAft>
            </a:pPr>
            <a:r>
              <a:rPr b="1" sz="1500">
                <a:solidFill>
                  <a:srgbClr val="1C2A4A"/>
                </a:solidFill>
              </a:rPr>
              <a:t>▪ Square dance: </a:t>
            </a:r>
            <a:r>
              <a:rPr sz="1500">
                <a:solidFill>
                  <a:srgbClr val="222833"/>
                </a:solidFill>
              </a:rPr>
              <a:t>traditional folk dance of the country west</a:t>
            </a:r>
          </a:p>
          <a:p>
            <a:pPr>
              <a:spcAft>
                <a:spcPts val="700"/>
              </a:spcAft>
            </a:pPr>
            <a:r>
              <a:rPr b="1" sz="1500">
                <a:solidFill>
                  <a:srgbClr val="1C2A4A"/>
                </a:solidFill>
              </a:rPr>
              <a:t>▪ Tap dance: </a:t>
            </a:r>
            <a:r>
              <a:rPr sz="1500">
                <a:solidFill>
                  <a:srgbClr val="222833"/>
                </a:solidFill>
              </a:rPr>
              <a:t>percussive shoes, a classic American art form</a:t>
            </a:r>
          </a:p>
        </p:txBody>
      </p:sp>
      <p:sp>
        <p:nvSpPr>
          <p:cNvPr id="7" name="TextBox 6"/>
          <p:cNvSpPr txBox="1"/>
          <p:nvPr/>
        </p:nvSpPr>
        <p:spPr>
          <a:xfrm>
            <a:off x="502920" y="5760720"/>
            <a:ext cx="11201400" cy="685800"/>
          </a:xfrm>
          <a:prstGeom prst="rect">
            <a:avLst/>
          </a:prstGeom>
          <a:noFill/>
        </p:spPr>
        <p:txBody>
          <a:bodyPr wrap="square">
            <a:spAutoFit/>
          </a:bodyPr>
          <a:lstStyle/>
          <a:p>
            <a:pPr>
              <a:lnSpc>
                <a:spcPct val="115000"/>
              </a:lnSpc>
              <a:defRPr sz="1200">
                <a:solidFill>
                  <a:srgbClr val="2A303C"/>
                </a:solidFill>
              </a:defRPr>
            </a:pPr>
            <a:r>
              <a:t>The United States gave the world some of the most popular music genres in history. Jazz, blues, rock, country and hip-hop all started on American soil, and dances like swing, tap and breakdance spread around the globe. New York City remains the capital of Broadway, hip-hop and musical innovation.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C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l">
              <a:defRPr sz="2800" b="1">
                <a:solidFill>
                  <a:srgbClr val="FFFFFF"/>
                </a:solidFill>
              </a:defRPr>
            </a:pPr>
            <a:r>
              <a:t>Popular Parties and Festivities</a:t>
            </a:r>
          </a:p>
          <a:p>
            <a:pPr>
              <a:defRPr sz="1300" i="1">
                <a:solidFill>
                  <a:srgbClr val="C9D3E6"/>
                </a:solidFill>
              </a:defRPr>
            </a:pPr>
            <a:r>
              <a:t>Celebrations that bring the whole country together</a:t>
            </a:r>
          </a:p>
        </p:txBody>
      </p:sp>
      <p:sp>
        <p:nvSpPr>
          <p:cNvPr id="3" name="TextBox 2"/>
          <p:cNvSpPr txBox="1"/>
          <p:nvPr/>
        </p:nvSpPr>
        <p:spPr>
          <a:xfrm>
            <a:off x="502920" y="1097280"/>
            <a:ext cx="6035040" cy="384048"/>
          </a:xfrm>
          <a:prstGeom prst="rect">
            <a:avLst/>
          </a:prstGeom>
          <a:noFill/>
        </p:spPr>
        <p:txBody>
          <a:bodyPr wrap="none">
            <a:spAutoFit/>
          </a:bodyPr>
          <a:lstStyle/>
          <a:p>
            <a:pPr>
              <a:defRPr sz="1700" b="1">
                <a:solidFill>
                  <a:srgbClr val="B22234"/>
                </a:solidFill>
              </a:defRPr>
            </a:pPr>
            <a:r>
              <a:t>Most popular parties</a:t>
            </a:r>
          </a:p>
        </p:txBody>
      </p:sp>
      <p:sp>
        <p:nvSpPr>
          <p:cNvPr id="4" name="TextBox 3"/>
          <p:cNvSpPr txBox="1"/>
          <p:nvPr/>
        </p:nvSpPr>
        <p:spPr>
          <a:xfrm>
            <a:off x="502920" y="1508760"/>
            <a:ext cx="6035040" cy="4709160"/>
          </a:xfrm>
          <a:prstGeom prst="rect">
            <a:avLst/>
          </a:prstGeom>
          <a:noFill/>
        </p:spPr>
        <p:txBody>
          <a:bodyPr wrap="square">
            <a:spAutoFit/>
          </a:bodyPr>
          <a:lstStyle/>
          <a:p>
            <a:pPr>
              <a:spcAft>
                <a:spcPts val="700"/>
              </a:spcAft>
            </a:pPr>
            <a:r>
              <a:rPr b="1" sz="1500">
                <a:solidFill>
                  <a:srgbClr val="1C2A4A"/>
                </a:solidFill>
              </a:rPr>
              <a:t>▪ Independence Day (July 4): </a:t>
            </a:r>
            <a:r>
              <a:rPr sz="1500">
                <a:solidFill>
                  <a:srgbClr val="222833"/>
                </a:solidFill>
              </a:rPr>
              <a:t>fireworks, parades and barbecues</a:t>
            </a:r>
          </a:p>
          <a:p>
            <a:pPr>
              <a:spcAft>
                <a:spcPts val="700"/>
              </a:spcAft>
            </a:pPr>
            <a:r>
              <a:rPr b="1" sz="1500">
                <a:solidFill>
                  <a:srgbClr val="1C2A4A"/>
                </a:solidFill>
              </a:rPr>
              <a:t>▪ Thanksgiving (November): </a:t>
            </a:r>
            <a:r>
              <a:rPr sz="1500">
                <a:solidFill>
                  <a:srgbClr val="222833"/>
                </a:solidFill>
              </a:rPr>
              <a:t>family dinner with turkey and pumpkin pie</a:t>
            </a:r>
          </a:p>
          <a:p>
            <a:pPr>
              <a:spcAft>
                <a:spcPts val="700"/>
              </a:spcAft>
            </a:pPr>
            <a:r>
              <a:rPr b="1" sz="1500">
                <a:solidFill>
                  <a:srgbClr val="1C2A4A"/>
                </a:solidFill>
              </a:rPr>
              <a:t>▪ Halloween (October 31): </a:t>
            </a:r>
            <a:r>
              <a:rPr sz="1500">
                <a:solidFill>
                  <a:srgbClr val="222833"/>
                </a:solidFill>
              </a:rPr>
              <a:t>costumes, candy and trick-or-treat</a:t>
            </a:r>
          </a:p>
          <a:p>
            <a:pPr>
              <a:spcAft>
                <a:spcPts val="700"/>
              </a:spcAft>
            </a:pPr>
            <a:r>
              <a:rPr b="1" sz="1500">
                <a:solidFill>
                  <a:srgbClr val="1C2A4A"/>
                </a:solidFill>
              </a:rPr>
              <a:t>▪ New Year's Eve: </a:t>
            </a:r>
            <a:r>
              <a:rPr sz="1500">
                <a:solidFill>
                  <a:srgbClr val="222833"/>
                </a:solidFill>
              </a:rPr>
              <a:t>the famous ball drop in Times Square, NYC</a:t>
            </a:r>
          </a:p>
          <a:p>
            <a:pPr>
              <a:spcAft>
                <a:spcPts val="700"/>
              </a:spcAft>
            </a:pPr>
            <a:r>
              <a:rPr b="1" sz="1500">
                <a:solidFill>
                  <a:srgbClr val="1C2A4A"/>
                </a:solidFill>
              </a:rPr>
              <a:t>▪ Super Bowl Sunday: </a:t>
            </a:r>
            <a:r>
              <a:rPr sz="1500">
                <a:solidFill>
                  <a:srgbClr val="222833"/>
                </a:solidFill>
              </a:rPr>
              <a:t>big game, snacks and parties at home</a:t>
            </a:r>
          </a:p>
          <a:p>
            <a:pPr>
              <a:spcAft>
                <a:spcPts val="700"/>
              </a:spcAft>
            </a:pPr>
            <a:r>
              <a:rPr b="1" sz="1500">
                <a:solidFill>
                  <a:srgbClr val="1C2A4A"/>
                </a:solidFill>
              </a:rPr>
              <a:t>▪ Mardi Gras: </a:t>
            </a:r>
            <a:r>
              <a:rPr sz="1500">
                <a:solidFill>
                  <a:srgbClr val="222833"/>
                </a:solidFill>
              </a:rPr>
              <a:t>colorful parades and carnival in New Orleans</a:t>
            </a:r>
          </a:p>
        </p:txBody>
      </p:sp>
      <p:pic>
        <p:nvPicPr>
          <p:cNvPr id="5" name="Picture 4" descr="img_nyc_skyline.jpg"/>
          <p:cNvPicPr>
            <a:picLocks noChangeAspect="1"/>
          </p:cNvPicPr>
          <p:nvPr/>
        </p:nvPicPr>
        <p:blipFill>
          <a:blip r:embed="rId2"/>
          <a:stretch>
            <a:fillRect/>
          </a:stretch>
        </p:blipFill>
        <p:spPr>
          <a:xfrm>
            <a:off x="6720840" y="1916918"/>
            <a:ext cx="4983480" cy="1378243"/>
          </a:xfrm>
          <a:prstGeom prst="rect">
            <a:avLst/>
          </a:prstGeom>
        </p:spPr>
      </p:pic>
      <p:sp>
        <p:nvSpPr>
          <p:cNvPr id="6" name="TextBox 5"/>
          <p:cNvSpPr txBox="1"/>
          <p:nvPr/>
        </p:nvSpPr>
        <p:spPr>
          <a:xfrm>
            <a:off x="6720840" y="4160520"/>
            <a:ext cx="4983480" cy="2194560"/>
          </a:xfrm>
          <a:prstGeom prst="rect">
            <a:avLst/>
          </a:prstGeom>
          <a:noFill/>
        </p:spPr>
        <p:txBody>
          <a:bodyPr wrap="square">
            <a:spAutoFit/>
          </a:bodyPr>
          <a:lstStyle/>
          <a:p>
            <a:pPr>
              <a:lnSpc>
                <a:spcPct val="115000"/>
              </a:lnSpc>
              <a:defRPr sz="1200">
                <a:solidFill>
                  <a:srgbClr val="2A303C"/>
                </a:solidFill>
              </a:defRPr>
            </a:pPr>
            <a:r>
              <a:t>New York City is the stage for some of the biggest celebrations in the country. On New Year's Eve, over a million people gather in Times Square to watch the crystal ball drop at midnight, while the Macy's Thanksgiving Day Parade fills the streets with giant balloons and floats every November.</a:t>
            </a:r>
          </a:p>
        </p:txBody>
      </p:sp>
      <p:sp>
        <p:nvSpPr>
          <p:cNvPr id="7" name="TextBox 6"/>
          <p:cNvSpPr txBox="1"/>
          <p:nvPr/>
        </p:nvSpPr>
        <p:spPr>
          <a:xfrm>
            <a:off x="457200" y="6473952"/>
            <a:ext cx="11247120" cy="292608"/>
          </a:xfrm>
          <a:prstGeom prst="rect">
            <a:avLst/>
          </a:prstGeom>
          <a:noFill/>
        </p:spPr>
        <p:txBody>
          <a:bodyPr wrap="none">
            <a:spAutoFit/>
          </a:bodyPr>
          <a:lstStyle/>
          <a:p>
            <a:pPr algn="ctr">
              <a:defRPr sz="900" i="1">
                <a:solidFill>
                  <a:srgbClr val="555D6D"/>
                </a:solidFill>
              </a:defRPr>
            </a:pPr>
            <a:r>
              <a:t>Photo: Manhattan skyline at night — Wikimedia Commons (CC BY-SA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C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36576"/>
          <a:lstStyle/>
          <a:p>
            <a:pPr algn="l">
              <a:defRPr sz="2800" b="1">
                <a:solidFill>
                  <a:srgbClr val="FFFFFF"/>
                </a:solidFill>
              </a:defRPr>
            </a:pPr>
            <a:r>
              <a:t>Curiosities and Wrap-Up</a:t>
            </a:r>
          </a:p>
          <a:p>
            <a:pPr>
              <a:defRPr sz="1300" i="1">
                <a:solidFill>
                  <a:srgbClr val="C9D3E6"/>
                </a:solidFill>
              </a:defRPr>
            </a:pPr>
            <a:r>
              <a:t>Fun facts about the United States</a:t>
            </a:r>
          </a:p>
        </p:txBody>
      </p:sp>
      <p:sp>
        <p:nvSpPr>
          <p:cNvPr id="3" name="TextBox 2"/>
          <p:cNvSpPr txBox="1"/>
          <p:nvPr/>
        </p:nvSpPr>
        <p:spPr>
          <a:xfrm>
            <a:off x="502920" y="1097280"/>
            <a:ext cx="11201400" cy="384048"/>
          </a:xfrm>
          <a:prstGeom prst="rect">
            <a:avLst/>
          </a:prstGeom>
          <a:noFill/>
        </p:spPr>
        <p:txBody>
          <a:bodyPr wrap="none">
            <a:spAutoFit/>
          </a:bodyPr>
          <a:lstStyle/>
          <a:p>
            <a:pPr>
              <a:defRPr sz="1700" b="1">
                <a:solidFill>
                  <a:srgbClr val="B22234"/>
                </a:solidFill>
              </a:defRPr>
            </a:pPr>
            <a:r>
              <a:t>Did you know?</a:t>
            </a:r>
          </a:p>
        </p:txBody>
      </p:sp>
      <p:sp>
        <p:nvSpPr>
          <p:cNvPr id="4" name="TextBox 3"/>
          <p:cNvSpPr txBox="1"/>
          <p:nvPr/>
        </p:nvSpPr>
        <p:spPr>
          <a:xfrm>
            <a:off x="502920" y="1508760"/>
            <a:ext cx="11201400" cy="2697480"/>
          </a:xfrm>
          <a:prstGeom prst="rect">
            <a:avLst/>
          </a:prstGeom>
          <a:noFill/>
        </p:spPr>
        <p:txBody>
          <a:bodyPr wrap="square">
            <a:spAutoFit/>
          </a:bodyPr>
          <a:lstStyle/>
          <a:p>
            <a:pPr>
              <a:spcAft>
                <a:spcPts val="700"/>
              </a:spcAft>
            </a:pPr>
            <a:r>
              <a:rPr b="1" sz="1500">
                <a:solidFill>
                  <a:srgbClr val="1C2A4A"/>
                </a:solidFill>
              </a:rPr>
              <a:t>▪ The Statue of Liberty </a:t>
            </a:r>
            <a:r>
              <a:rPr sz="1500">
                <a:solidFill>
                  <a:srgbClr val="222833"/>
                </a:solidFill>
              </a:rPr>
              <a:t>was a gift from France in 1886 and stands in New York Harbor.</a:t>
            </a:r>
          </a:p>
          <a:p>
            <a:pPr>
              <a:spcAft>
                <a:spcPts val="700"/>
              </a:spcAft>
            </a:pPr>
            <a:r>
              <a:rPr b="1" sz="1500">
                <a:solidFill>
                  <a:srgbClr val="1C2A4A"/>
                </a:solidFill>
              </a:rPr>
              <a:t>▪ The flag </a:t>
            </a:r>
            <a:r>
              <a:rPr sz="1500">
                <a:solidFill>
                  <a:srgbClr val="222833"/>
                </a:solidFill>
              </a:rPr>
              <a:t>has 50 stars (one for each state) and 13 stripes (the original colonies).</a:t>
            </a:r>
          </a:p>
          <a:p>
            <a:pPr>
              <a:spcAft>
                <a:spcPts val="700"/>
              </a:spcAft>
            </a:pPr>
            <a:r>
              <a:rPr b="1" sz="1500">
                <a:solidFill>
                  <a:srgbClr val="1C2A4A"/>
                </a:solidFill>
              </a:rPr>
              <a:t>▪ The hot dog </a:t>
            </a:r>
            <a:r>
              <a:rPr sz="1500">
                <a:solidFill>
                  <a:srgbClr val="222833"/>
                </a:solidFill>
              </a:rPr>
              <a:t>was made famous by street vendors in New York City over 100 years ago.</a:t>
            </a:r>
          </a:p>
          <a:p>
            <a:pPr>
              <a:spcAft>
                <a:spcPts val="700"/>
              </a:spcAft>
            </a:pPr>
            <a:r>
              <a:rPr b="1" sz="1500">
                <a:solidFill>
                  <a:srgbClr val="1C2A4A"/>
                </a:solidFill>
              </a:rPr>
              <a:t>▪ There is no official language </a:t>
            </a:r>
            <a:r>
              <a:rPr sz="1500">
                <a:solidFill>
                  <a:srgbClr val="222833"/>
                </a:solidFill>
              </a:rPr>
              <a:t>at the federal level, but English is spoken by the vast majority.</a:t>
            </a:r>
          </a:p>
          <a:p>
            <a:pPr>
              <a:spcAft>
                <a:spcPts val="700"/>
              </a:spcAft>
            </a:pPr>
            <a:r>
              <a:rPr b="1" sz="1500">
                <a:solidFill>
                  <a:srgbClr val="1C2A4A"/>
                </a:solidFill>
              </a:rPr>
              <a:t>▪ The U.S. is the 3rd largest country </a:t>
            </a:r>
            <a:r>
              <a:rPr sz="1500">
                <a:solidFill>
                  <a:srgbClr val="222833"/>
                </a:solidFill>
              </a:rPr>
              <a:t>in the world by area and population.</a:t>
            </a:r>
          </a:p>
        </p:txBody>
      </p:sp>
      <p:sp>
        <p:nvSpPr>
          <p:cNvPr id="5" name="TextBox 4"/>
          <p:cNvSpPr txBox="1"/>
          <p:nvPr/>
        </p:nvSpPr>
        <p:spPr>
          <a:xfrm>
            <a:off x="502920" y="4434840"/>
            <a:ext cx="11201400" cy="1737360"/>
          </a:xfrm>
          <a:prstGeom prst="rect">
            <a:avLst/>
          </a:prstGeom>
          <a:noFill/>
        </p:spPr>
        <p:txBody>
          <a:bodyPr wrap="square">
            <a:spAutoFit/>
          </a:bodyPr>
          <a:lstStyle/>
          <a:p>
            <a:pPr>
              <a:lnSpc>
                <a:spcPct val="115000"/>
              </a:lnSpc>
              <a:defRPr sz="1300">
                <a:solidFill>
                  <a:srgbClr val="2A303C"/>
                </a:solidFill>
              </a:defRPr>
            </a:pPr>
            <a:r>
              <a:t>To wrap up: the United States of America is a vast country in North America whose currency is the United States Dollar. Its culture is a mix of peoples from all over the world, reflected in casual clothing such as jeans, in musical genres like jazz, rock and hip-hop, and in dances such as swing and breakdance. Popular parties range from Independence Day and Thanksgiving to Halloween and the Times Square New Year's Eve ball drop. And when it comes to gastronomy, nothing is more New York than a hot dog from a street cart — a beef frankfurter in a soft bun with mustard, onions and relish, prepared on the grill and served on a tray.</a:t>
            </a:r>
          </a:p>
        </p:txBody>
      </p:sp>
      <p:sp>
        <p:nvSpPr>
          <p:cNvPr id="6" name="TextBox 5"/>
          <p:cNvSpPr txBox="1"/>
          <p:nvPr/>
        </p:nvSpPr>
        <p:spPr>
          <a:xfrm>
            <a:off x="457200" y="6473952"/>
            <a:ext cx="11247120" cy="292608"/>
          </a:xfrm>
          <a:prstGeom prst="rect">
            <a:avLst/>
          </a:prstGeom>
          <a:noFill/>
        </p:spPr>
        <p:txBody>
          <a:bodyPr wrap="none">
            <a:spAutoFit/>
          </a:bodyPr>
          <a:lstStyle/>
          <a:p>
            <a:pPr algn="ctr">
              <a:defRPr sz="900" i="1">
                <a:solidFill>
                  <a:srgbClr val="555D6D"/>
                </a:solidFill>
              </a:defRPr>
            </a:pPr>
            <a:r>
              <a:t>Images: Wikimedia Commons — North America relief map (CC BY-SA 4.0), hot dog (CC BY-SA 2.0), Manhattan skyline (CC BY-SA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